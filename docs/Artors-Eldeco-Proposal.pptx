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problem, not the product. Ask how long it currently takes their team to call a new portal lead — the answer is usually hours, and they know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quote industry statistics here. Let them tell you their own response time — week one of the pilot measures it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pause on. Everything after it is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attempts maximum is a deliberate promise. It is their brand making the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WhatsApp number point out loud, not just on the slide. If their team uses that number on their phones today, they need a new SIM — and finding out in week two costs a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blanks before sending. Keep usage as a pass-through — folding call minutes into a flat fee means losing money if the campaign succeeds.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trust move. Offering to be measured against their own baseline beats any borrowed industry statistic.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Calling &amp;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Nurturing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every enquiry in under a minute — in Hindi, English or Hinglish — and turn the ones worth your time into booked site visits.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257800"/>
            <a:ext cx="2011680" cy="18288"/>
          </a:xfrm>
          <a:prstGeom prst="rect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486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Eldeco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870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· artors.in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enquiry you pay for has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shelf life of minutes.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97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third arrive outside office hours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0449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Nights, Sundays, festival days. Nobody is there to call back.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is filling three other forms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879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calls first usually gets the site visit. Not the best project — the first call.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983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 has a hard ceiling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3309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on another call when the next lead lands. That is not a performance problem.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92440" y="2651760"/>
            <a:ext cx="3456432" cy="3017520"/>
          </a:xfrm>
          <a:prstGeom prst="roundRect">
            <a:avLst>
              <a:gd name="adj" fmla="val 2424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4290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spreadsheet of leads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paid for and</a:t>
            </a:r>
            <a:endParaRPr lang="en-US" sz="19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properly worked.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every developer.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PROPOSE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presales team that never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sleeps, never forgets, and never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a lead go cold.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617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in under 60 seconds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212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enquiry, any hour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4617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English, Hinglish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5212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number, as your buyers actually speak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4617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Nurtures on WhatsApp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5212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who do not pick up, until they do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4617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site visit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5212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into your managers' calendars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enquiry to booked site visit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807208"/>
            <a:ext cx="347472" cy="347472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arrives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85876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99acres, Meta, Google,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734056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07792" y="25603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2807208"/>
            <a:ext cx="347472" cy="347472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63824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instantly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63824" y="385876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 —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 is ever lost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01768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75504" y="25603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31536" y="2807208"/>
            <a:ext cx="347472" cy="347472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31536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WhatsApp, then call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31536" y="385876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call is not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stranger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43216" y="25603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9248" y="2807208"/>
            <a:ext cx="347472" cy="347472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99248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99248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99248" y="385876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configuration,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loan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537192" y="3520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C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10928" y="25603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EEF2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0" y="2807208"/>
            <a:ext cx="347472" cy="34747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66960" y="2807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66960" y="331012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visit booked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966960" y="3858768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invite to buyer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sales manager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21208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0120" y="5422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do not answer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5422392"/>
            <a:ext cx="7205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message with a link to pick their own time. Retried twice more, inside working hours only — then handed to a human. Never more than three attempts.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Eldeco 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453384" cy="379476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807208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29047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 trained on your projects and your own presales script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English and Hinglish on one number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nurturing for unanswered and undecided leads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site-visit booking into managers' calendars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source connected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7784" y="2514600"/>
            <a:ext cx="3453384" cy="379476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2807208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visibility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3291840"/>
            <a:ext cx="29047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sheet of every enquiry and what happened to it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recorded, transcribed and summarised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configuration, location, timeline and loan captured on each call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of what the agent got wrong — and a fix for each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5488" y="2514600"/>
            <a:ext cx="3453384" cy="3794760"/>
          </a:xfrm>
          <a:prstGeom prst="roundRect">
            <a:avLst>
              <a:gd name="adj" fmla="val 2118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9808" y="2807208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handover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69808" y="3291840"/>
            <a:ext cx="290474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trained on it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documented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yours — configuration, data and recordings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at any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PLAINLY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105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that lists only strengths is not worth trusting. In a RERA-regulated market, every limit below is your exposure being managed.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788920"/>
            <a:ext cx="146304" cy="146304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6974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replace your sales team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02666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reaches the buyer first and finds out whether they are worth a manager's hour. Closing stays human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721608"/>
            <a:ext cx="146304" cy="146304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363016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quote prices or possession dates on its own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39593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says only what Eldeco has approved in writing, and hands anything else to a person.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654296"/>
            <a:ext cx="146304" cy="146304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4128" y="45628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cannot confirm unit availability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489204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moves faster than any system we are given access 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5586984"/>
            <a:ext cx="146304" cy="146304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4128" y="549554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book during the call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5824728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gets a booking link immediately afterwards. Better said now than discovered in week three.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two to three weeks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2590038" cy="2697480"/>
          </a:xfrm>
          <a:prstGeom prst="roundRect">
            <a:avLst>
              <a:gd name="adj" fmla="val 2824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862072"/>
            <a:ext cx="2077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200400"/>
            <a:ext cx="2077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Kickoff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657600"/>
            <a:ext cx="2077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approval started, project facts collected, agent scripted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2998" y="2606040"/>
            <a:ext cx="2590038" cy="2697480"/>
          </a:xfrm>
          <a:prstGeom prst="roundRect">
            <a:avLst>
              <a:gd name="adj" fmla="val 2824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69030" y="2862072"/>
            <a:ext cx="2077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69030" y="3200400"/>
            <a:ext cx="2077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69030" y="3657600"/>
            <a:ext cx="2077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connected to your lead sources. Internal testing end to 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5916" y="2606040"/>
            <a:ext cx="2590038" cy="2697480"/>
          </a:xfrm>
          <a:prstGeom prst="roundRect">
            <a:avLst>
              <a:gd name="adj" fmla="val 2824"/>
            </a:avLst>
          </a:prstGeom>
          <a:solidFill>
            <a:srgbClr val="EEF2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1948" y="2862072"/>
            <a:ext cx="2077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41948" y="3200400"/>
            <a:ext cx="2077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41948" y="3657600"/>
            <a:ext cx="2077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project. Every call reviewed by your team before we widen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58834" y="2606040"/>
            <a:ext cx="2590038" cy="2697480"/>
          </a:xfrm>
          <a:prstGeom prst="roundRect">
            <a:avLst>
              <a:gd name="adj" fmla="val 2824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4866" y="2862072"/>
            <a:ext cx="20779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4+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214866" y="3200400"/>
            <a:ext cx="2077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214866" y="3657600"/>
            <a:ext cx="20779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projects added, weekly optimisation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is WhatsApp Business verification, which sits with Meta, and your sign-off on project facts — not our build time.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START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Eldeco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96896"/>
            <a:ext cx="365760" cy="365760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56032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phone number for WhatsApp Business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889504"/>
            <a:ext cx="4722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a number already in use on the normal WhatsApp 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596896"/>
            <a:ext cx="365760" cy="365760"/>
          </a:xfrm>
          <a:prstGeom prst="ellipse">
            <a:avLst/>
          </a:prstGeom>
          <a:solidFill>
            <a:srgbClr val="D8DE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77356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25996" y="256032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project details, in writing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25996" y="2889504"/>
            <a:ext cx="4722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numbers, configurations, locations, price positions, possession, amenities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365760" cy="365760"/>
          </a:xfrm>
          <a:prstGeom prst="ellipse">
            <a:avLst/>
          </a:prstGeom>
          <a:solidFill>
            <a:srgbClr val="D8DE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8620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routing map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15384"/>
            <a:ext cx="4722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sales manager receives which project's leads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77356" y="3922776"/>
            <a:ext cx="365760" cy="365760"/>
          </a:xfrm>
          <a:prstGeom prst="ellipse">
            <a:avLst/>
          </a:prstGeom>
          <a:solidFill>
            <a:srgbClr val="D8DE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77356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25996" y="388620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definition of a qualified lead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5996" y="4215384"/>
            <a:ext cx="4722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Eldeco considers worth a manager's callback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48656"/>
            <a:ext cx="365760" cy="365760"/>
          </a:xfrm>
          <a:prstGeom prst="ellipse">
            <a:avLst/>
          </a:prstGeom>
          <a:solidFill>
            <a:srgbClr val="D8DE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21208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lead sources and calendars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541264"/>
            <a:ext cx="4722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accounts, ad accounts, and the managers' calendars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7356" y="5248656"/>
            <a:ext cx="365760" cy="365760"/>
          </a:xfrm>
          <a:prstGeom prst="ellipse">
            <a:avLst/>
          </a:prstGeom>
          <a:solidFill>
            <a:srgbClr val="D8DEE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77356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825996" y="5212080"/>
            <a:ext cx="47228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existing presales script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25996" y="5541264"/>
            <a:ext cx="47228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one — it is the best input we can get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807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639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36393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______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40965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______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553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4553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months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0" y="2560320"/>
            <a:ext cx="3017520" cy="2788920"/>
          </a:xfrm>
          <a:prstGeom prst="roundRect">
            <a:avLst>
              <a:gd name="adj" fmla="val 2623"/>
            </a:avLst>
          </a:prstGeom>
          <a:solidFill>
            <a:srgbClr val="EEF2FF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2807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rollout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224528" y="31546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224528" y="3639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6393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______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224528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40965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______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224528" y="4553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45537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 months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06640" y="2560320"/>
            <a:ext cx="4142232" cy="2788920"/>
          </a:xfrm>
          <a:prstGeom prst="roundRect">
            <a:avLst>
              <a:gd name="adj" fmla="val 2623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99248" y="2807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Usage, billed at cost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99248" y="3273552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minutes and WhatsApp conversations are charged by the platforms themselves. We pass these through at cost with the invoice attached — no margin added — and agree a monthly ceiling in advance, so there are no surprises.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596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pilot first.  One project, a fixed price, and a clean exit if it is not paying. You see the result before committing further — we would rather earn the rollout than sign for it.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data, and the guardrails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8346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291840"/>
            <a:ext cx="4617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and lead data are stored in India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and transcripts belong to Eldeco, exportable at any time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are told they are speaking to an AI assistant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asking to stop being contacted is removed immediately and permanently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256032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 w="12700">
            <a:solidFill>
              <a:srgbClr val="E4E7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8346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291840"/>
            <a:ext cx="4617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states only what Eldeco has approved in writing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possession and availability are never improvised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registration numbers accompany project details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part ways, you keep the system, the data and the configuration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01675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RERA market, a system that refuses to improvise is worth more than one that sounds impressive.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JUDGE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visits booked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100 enquiries.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number. Not calls made, not messages sent — those are activity, not outcome.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7498080" cy="1234440"/>
          </a:xfrm>
          <a:prstGeom prst="roundRect">
            <a:avLst>
              <a:gd name="adj" fmla="val 5926"/>
            </a:avLst>
          </a:prstGeom>
          <a:solidFill>
            <a:srgbClr val="16181F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7548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measure your current response time in week one — so the comparison afterwards is against your own baseline, not against a claim from us.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30-minute call.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come with the questions. You will leave with a scoped plan, a pilot project and a date.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2011680" cy="18288"/>
          </a:xfrm>
          <a:prstGeom prst="rect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business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Floor, Sapphire Mall, Gurugram, Haryana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95993 34008  ·  ai@artors.in  ·  artors.in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Artors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Calling &amp; WhatsApp Nurturing — Proposal for Eldeco</dc:title>
  <dc:subject>PptxGenJS Presentation</dc:subject>
  <dc:creator>Artors</dc:creator>
  <cp:lastModifiedBy>Artors</cp:lastModifiedBy>
  <cp:revision>1</cp:revision>
  <dcterms:created xsi:type="dcterms:W3CDTF">2026-09-11T10:06:10Z</dcterms:created>
  <dcterms:modified xsi:type="dcterms:W3CDTF">2026-09-11T10:06:10Z</dcterms:modified>
</cp:coreProperties>
</file>